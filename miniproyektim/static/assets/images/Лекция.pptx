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86" r:id="rId10"/>
    <p:sldId id="287" r:id="rId11"/>
    <p:sldId id="263" r:id="rId12"/>
    <p:sldId id="265" r:id="rId13"/>
    <p:sldId id="266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91" r:id="rId25"/>
    <p:sldId id="290" r:id="rId26"/>
    <p:sldId id="292" r:id="rId27"/>
    <p:sldId id="293" r:id="rId28"/>
    <p:sldId id="294" r:id="rId29"/>
    <p:sldId id="289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966404-63D7-4F29-A1E2-816B82D564D7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1ADC108-F17B-41FF-B1D5-C12E85E255C8}">
      <dgm:prSet custT="1"/>
      <dgm:spPr/>
      <dgm:t>
        <a:bodyPr/>
        <a:lstStyle/>
        <a:p>
          <a:pPr rtl="0"/>
          <a:r>
            <a:rPr lang="ru-RU" sz="1200" u="sng" dirty="0"/>
            <a:t>Датчики, промежуточные измерительные преобразователи</a:t>
          </a:r>
        </a:p>
      </dgm:t>
    </dgm:pt>
    <dgm:pt modelId="{35A27A13-8112-46D8-8F5E-9BF9B2B18ADB}" type="parTrans" cxnId="{B3136342-72C9-4493-AE3D-399A7347BF16}">
      <dgm:prSet/>
      <dgm:spPr/>
      <dgm:t>
        <a:bodyPr/>
        <a:lstStyle/>
        <a:p>
          <a:endParaRPr lang="ru-RU" sz="2000"/>
        </a:p>
      </dgm:t>
    </dgm:pt>
    <dgm:pt modelId="{B3E24ED2-7093-4D4D-897C-FA92D8ABF4A1}" type="sibTrans" cxnId="{B3136342-72C9-4493-AE3D-399A7347BF16}">
      <dgm:prSet/>
      <dgm:spPr/>
      <dgm:t>
        <a:bodyPr/>
        <a:lstStyle/>
        <a:p>
          <a:endParaRPr lang="ru-RU" sz="2000"/>
        </a:p>
      </dgm:t>
    </dgm:pt>
    <dgm:pt modelId="{D9512795-50A4-4796-83B5-B091C4795C2B}">
      <dgm:prSet custT="1"/>
      <dgm:spPr/>
      <dgm:t>
        <a:bodyPr/>
        <a:lstStyle/>
        <a:p>
          <a:pPr rtl="0"/>
          <a:r>
            <a:rPr lang="ru-RU" sz="1200" u="sng" dirty="0"/>
            <a:t>аналого-цифровые и цифро-аналоговые преобразователи (АЦП, ЦАП)</a:t>
          </a:r>
        </a:p>
      </dgm:t>
    </dgm:pt>
    <dgm:pt modelId="{118FFB92-76C1-402B-B67A-E09CD9D7FB05}" type="parTrans" cxnId="{A1E9C0FA-295B-4CA4-848B-217DFAA262D6}">
      <dgm:prSet/>
      <dgm:spPr/>
      <dgm:t>
        <a:bodyPr/>
        <a:lstStyle/>
        <a:p>
          <a:endParaRPr lang="ru-RU" sz="2000"/>
        </a:p>
      </dgm:t>
    </dgm:pt>
    <dgm:pt modelId="{0470DAF8-A4BE-498B-A639-7EDBEF762D85}" type="sibTrans" cxnId="{A1E9C0FA-295B-4CA4-848B-217DFAA262D6}">
      <dgm:prSet/>
      <dgm:spPr/>
      <dgm:t>
        <a:bodyPr/>
        <a:lstStyle/>
        <a:p>
          <a:endParaRPr lang="ru-RU" sz="2000"/>
        </a:p>
      </dgm:t>
    </dgm:pt>
    <dgm:pt modelId="{59571011-0A5E-4AA1-A043-66959170B42A}">
      <dgm:prSet custT="1"/>
      <dgm:spPr/>
      <dgm:t>
        <a:bodyPr/>
        <a:lstStyle/>
        <a:p>
          <a:pPr rtl="0"/>
          <a:r>
            <a:rPr lang="ru-RU" sz="1200" u="sng" dirty="0"/>
            <a:t>коммутаторы сигналов, исполнительные устройства</a:t>
          </a:r>
        </a:p>
      </dgm:t>
    </dgm:pt>
    <dgm:pt modelId="{8B4442AD-DE95-4B4B-BBC0-C54377DD9206}" type="parTrans" cxnId="{588E0307-9D52-40AA-B1BD-CCA8767F3685}">
      <dgm:prSet/>
      <dgm:spPr/>
      <dgm:t>
        <a:bodyPr/>
        <a:lstStyle/>
        <a:p>
          <a:endParaRPr lang="ru-RU" sz="2000"/>
        </a:p>
      </dgm:t>
    </dgm:pt>
    <dgm:pt modelId="{18D605F1-A070-4719-8074-4CC99FA056D1}" type="sibTrans" cxnId="{588E0307-9D52-40AA-B1BD-CCA8767F3685}">
      <dgm:prSet/>
      <dgm:spPr/>
      <dgm:t>
        <a:bodyPr/>
        <a:lstStyle/>
        <a:p>
          <a:endParaRPr lang="ru-RU" sz="2000"/>
        </a:p>
      </dgm:t>
    </dgm:pt>
    <dgm:pt modelId="{FCD2AB19-D2EC-4BF1-872B-BEB2D644074E}">
      <dgm:prSet custT="1"/>
      <dgm:spPr/>
      <dgm:t>
        <a:bodyPr/>
        <a:lstStyle/>
        <a:p>
          <a:pPr rtl="0"/>
          <a:r>
            <a:rPr lang="ru-RU" sz="1200" u="sng" dirty="0"/>
            <a:t>интерфейсные средства </a:t>
          </a:r>
          <a:r>
            <a:rPr lang="ru-RU" sz="1200" u="sng" dirty="0" err="1"/>
            <a:t>приема</a:t>
          </a:r>
          <a:r>
            <a:rPr lang="ru-RU" sz="1200" u="sng" dirty="0"/>
            <a:t> и передачи данных</a:t>
          </a:r>
        </a:p>
      </dgm:t>
    </dgm:pt>
    <dgm:pt modelId="{557500F6-FE9B-4D41-BB61-376DA8C26EAC}" type="parTrans" cxnId="{9E3EDEC7-56FF-4C81-A9AE-9B3FA99480C9}">
      <dgm:prSet/>
      <dgm:spPr/>
      <dgm:t>
        <a:bodyPr/>
        <a:lstStyle/>
        <a:p>
          <a:endParaRPr lang="ru-RU" sz="2000"/>
        </a:p>
      </dgm:t>
    </dgm:pt>
    <dgm:pt modelId="{3797E932-46DA-4804-BA79-C2275B403E2D}" type="sibTrans" cxnId="{9E3EDEC7-56FF-4C81-A9AE-9B3FA99480C9}">
      <dgm:prSet/>
      <dgm:spPr/>
      <dgm:t>
        <a:bodyPr/>
        <a:lstStyle/>
        <a:p>
          <a:endParaRPr lang="ru-RU" sz="2000"/>
        </a:p>
      </dgm:t>
    </dgm:pt>
    <dgm:pt modelId="{B1C06C1C-9C01-447C-ACCF-483B804DF47D}">
      <dgm:prSet custT="1"/>
      <dgm:spPr/>
      <dgm:t>
        <a:bodyPr/>
        <a:lstStyle/>
        <a:p>
          <a:pPr rtl="0"/>
          <a:r>
            <a:rPr lang="ru-RU" sz="1200" u="sng" dirty="0"/>
            <a:t>элементы сигнализации и индикации</a:t>
          </a:r>
          <a:r>
            <a:rPr lang="ru-RU" sz="1200" dirty="0"/>
            <a:t>. </a:t>
          </a:r>
        </a:p>
      </dgm:t>
    </dgm:pt>
    <dgm:pt modelId="{D1203629-263F-46ED-A14B-0A590601D046}" type="parTrans" cxnId="{07730A13-FB8F-4DCA-97E2-F12ECC209348}">
      <dgm:prSet/>
      <dgm:spPr/>
      <dgm:t>
        <a:bodyPr/>
        <a:lstStyle/>
        <a:p>
          <a:endParaRPr lang="ru-RU" sz="2000"/>
        </a:p>
      </dgm:t>
    </dgm:pt>
    <dgm:pt modelId="{C05F313B-F2C7-423A-888C-DC15C242A5B0}" type="sibTrans" cxnId="{07730A13-FB8F-4DCA-97E2-F12ECC209348}">
      <dgm:prSet/>
      <dgm:spPr/>
      <dgm:t>
        <a:bodyPr/>
        <a:lstStyle/>
        <a:p>
          <a:endParaRPr lang="ru-RU" sz="2000"/>
        </a:p>
      </dgm:t>
    </dgm:pt>
    <dgm:pt modelId="{1E160347-0113-4F1C-94F0-63EB30F5AF86}" type="pres">
      <dgm:prSet presAssocID="{BE966404-63D7-4F29-A1E2-816B82D564D7}" presName="composite" presStyleCnt="0">
        <dgm:presLayoutVars>
          <dgm:chMax val="5"/>
          <dgm:dir/>
          <dgm:resizeHandles val="exact"/>
        </dgm:presLayoutVars>
      </dgm:prSet>
      <dgm:spPr/>
    </dgm:pt>
    <dgm:pt modelId="{B13B3A7A-34C7-460B-99E5-EBFE7DD4E92D}" type="pres">
      <dgm:prSet presAssocID="{F1ADC108-F17B-41FF-B1D5-C12E85E255C8}" presName="circle1" presStyleLbl="lnNode1" presStyleIdx="0" presStyleCnt="5"/>
      <dgm:spPr/>
    </dgm:pt>
    <dgm:pt modelId="{EC10BCCB-4F87-48CA-9D23-4DC578FEFA3D}" type="pres">
      <dgm:prSet presAssocID="{F1ADC108-F17B-41FF-B1D5-C12E85E255C8}" presName="text1" presStyleLbl="revTx" presStyleIdx="0" presStyleCnt="5">
        <dgm:presLayoutVars>
          <dgm:bulletEnabled val="1"/>
        </dgm:presLayoutVars>
      </dgm:prSet>
      <dgm:spPr/>
    </dgm:pt>
    <dgm:pt modelId="{61A14D3E-E5FD-4638-9CE5-AD00FC1B0E2D}" type="pres">
      <dgm:prSet presAssocID="{F1ADC108-F17B-41FF-B1D5-C12E85E255C8}" presName="line1" presStyleLbl="callout" presStyleIdx="0" presStyleCnt="10"/>
      <dgm:spPr/>
    </dgm:pt>
    <dgm:pt modelId="{43DD62F8-F09E-4794-941D-401C356FF102}" type="pres">
      <dgm:prSet presAssocID="{F1ADC108-F17B-41FF-B1D5-C12E85E255C8}" presName="d1" presStyleLbl="callout" presStyleIdx="1" presStyleCnt="10"/>
      <dgm:spPr/>
    </dgm:pt>
    <dgm:pt modelId="{28A44823-9D1F-4BD8-BC31-5E0F4D84B55F}" type="pres">
      <dgm:prSet presAssocID="{D9512795-50A4-4796-83B5-B091C4795C2B}" presName="circle2" presStyleLbl="lnNode1" presStyleIdx="1" presStyleCnt="5"/>
      <dgm:spPr/>
    </dgm:pt>
    <dgm:pt modelId="{334A5EE5-3467-4B87-8A3B-3B1BFB48651A}" type="pres">
      <dgm:prSet presAssocID="{D9512795-50A4-4796-83B5-B091C4795C2B}" presName="text2" presStyleLbl="revTx" presStyleIdx="1" presStyleCnt="5">
        <dgm:presLayoutVars>
          <dgm:bulletEnabled val="1"/>
        </dgm:presLayoutVars>
      </dgm:prSet>
      <dgm:spPr/>
    </dgm:pt>
    <dgm:pt modelId="{97777947-643D-475E-AA1F-0E48BB1E7B82}" type="pres">
      <dgm:prSet presAssocID="{D9512795-50A4-4796-83B5-B091C4795C2B}" presName="line2" presStyleLbl="callout" presStyleIdx="2" presStyleCnt="10"/>
      <dgm:spPr/>
    </dgm:pt>
    <dgm:pt modelId="{81E908DE-C9CD-4CAB-9F40-4F62365EF9AC}" type="pres">
      <dgm:prSet presAssocID="{D9512795-50A4-4796-83B5-B091C4795C2B}" presName="d2" presStyleLbl="callout" presStyleIdx="3" presStyleCnt="10"/>
      <dgm:spPr/>
    </dgm:pt>
    <dgm:pt modelId="{76F8DE71-78E2-4953-A63B-50030CC4DCF7}" type="pres">
      <dgm:prSet presAssocID="{59571011-0A5E-4AA1-A043-66959170B42A}" presName="circle3" presStyleLbl="lnNode1" presStyleIdx="2" presStyleCnt="5"/>
      <dgm:spPr/>
    </dgm:pt>
    <dgm:pt modelId="{A170C38A-279D-472E-A0DE-166704FE25BE}" type="pres">
      <dgm:prSet presAssocID="{59571011-0A5E-4AA1-A043-66959170B42A}" presName="text3" presStyleLbl="revTx" presStyleIdx="2" presStyleCnt="5">
        <dgm:presLayoutVars>
          <dgm:bulletEnabled val="1"/>
        </dgm:presLayoutVars>
      </dgm:prSet>
      <dgm:spPr/>
    </dgm:pt>
    <dgm:pt modelId="{02A199D1-C95C-4BE0-A1ED-DBC557E3BF16}" type="pres">
      <dgm:prSet presAssocID="{59571011-0A5E-4AA1-A043-66959170B42A}" presName="line3" presStyleLbl="callout" presStyleIdx="4" presStyleCnt="10"/>
      <dgm:spPr/>
    </dgm:pt>
    <dgm:pt modelId="{989B9EC0-5DAC-43C1-9B7A-5F9C11EC42DF}" type="pres">
      <dgm:prSet presAssocID="{59571011-0A5E-4AA1-A043-66959170B42A}" presName="d3" presStyleLbl="callout" presStyleIdx="5" presStyleCnt="10"/>
      <dgm:spPr/>
    </dgm:pt>
    <dgm:pt modelId="{8159DF0D-E8A4-4393-B4ED-9C3D7050E967}" type="pres">
      <dgm:prSet presAssocID="{FCD2AB19-D2EC-4BF1-872B-BEB2D644074E}" presName="circle4" presStyleLbl="lnNode1" presStyleIdx="3" presStyleCnt="5"/>
      <dgm:spPr/>
    </dgm:pt>
    <dgm:pt modelId="{AC3295CA-028A-40D5-8D71-8F16E5A963DD}" type="pres">
      <dgm:prSet presAssocID="{FCD2AB19-D2EC-4BF1-872B-BEB2D644074E}" presName="text4" presStyleLbl="revTx" presStyleIdx="3" presStyleCnt="5">
        <dgm:presLayoutVars>
          <dgm:bulletEnabled val="1"/>
        </dgm:presLayoutVars>
      </dgm:prSet>
      <dgm:spPr/>
    </dgm:pt>
    <dgm:pt modelId="{F475AA3C-0D4C-4CA7-831D-6584749C6DDA}" type="pres">
      <dgm:prSet presAssocID="{FCD2AB19-D2EC-4BF1-872B-BEB2D644074E}" presName="line4" presStyleLbl="callout" presStyleIdx="6" presStyleCnt="10"/>
      <dgm:spPr/>
    </dgm:pt>
    <dgm:pt modelId="{E1CBB69C-D7E9-4EDD-A52B-95351DD49776}" type="pres">
      <dgm:prSet presAssocID="{FCD2AB19-D2EC-4BF1-872B-BEB2D644074E}" presName="d4" presStyleLbl="callout" presStyleIdx="7" presStyleCnt="10"/>
      <dgm:spPr/>
    </dgm:pt>
    <dgm:pt modelId="{17079B53-2E89-4283-ABB8-31592F736F4E}" type="pres">
      <dgm:prSet presAssocID="{B1C06C1C-9C01-447C-ACCF-483B804DF47D}" presName="circle5" presStyleLbl="lnNode1" presStyleIdx="4" presStyleCnt="5"/>
      <dgm:spPr/>
    </dgm:pt>
    <dgm:pt modelId="{43405CF9-EAC0-4367-A0CB-E50B4ADA4569}" type="pres">
      <dgm:prSet presAssocID="{B1C06C1C-9C01-447C-ACCF-483B804DF47D}" presName="text5" presStyleLbl="revTx" presStyleIdx="4" presStyleCnt="5" custScaleX="93475">
        <dgm:presLayoutVars>
          <dgm:bulletEnabled val="1"/>
        </dgm:presLayoutVars>
      </dgm:prSet>
      <dgm:spPr/>
    </dgm:pt>
    <dgm:pt modelId="{7DE54ADD-2AA2-48B1-97B6-44FC74619A97}" type="pres">
      <dgm:prSet presAssocID="{B1C06C1C-9C01-447C-ACCF-483B804DF47D}" presName="line5" presStyleLbl="callout" presStyleIdx="8" presStyleCnt="10"/>
      <dgm:spPr/>
    </dgm:pt>
    <dgm:pt modelId="{E9F089BD-98CB-46F6-BAD9-D9713BE7DB28}" type="pres">
      <dgm:prSet presAssocID="{B1C06C1C-9C01-447C-ACCF-483B804DF47D}" presName="d5" presStyleLbl="callout" presStyleIdx="9" presStyleCnt="10"/>
      <dgm:spPr/>
    </dgm:pt>
  </dgm:ptLst>
  <dgm:cxnLst>
    <dgm:cxn modelId="{588E0307-9D52-40AA-B1BD-CCA8767F3685}" srcId="{BE966404-63D7-4F29-A1E2-816B82D564D7}" destId="{59571011-0A5E-4AA1-A043-66959170B42A}" srcOrd="2" destOrd="0" parTransId="{8B4442AD-DE95-4B4B-BBC0-C54377DD9206}" sibTransId="{18D605F1-A070-4719-8074-4CC99FA056D1}"/>
    <dgm:cxn modelId="{07730A13-FB8F-4DCA-97E2-F12ECC209348}" srcId="{BE966404-63D7-4F29-A1E2-816B82D564D7}" destId="{B1C06C1C-9C01-447C-ACCF-483B804DF47D}" srcOrd="4" destOrd="0" parTransId="{D1203629-263F-46ED-A14B-0A590601D046}" sibTransId="{C05F313B-F2C7-423A-888C-DC15C242A5B0}"/>
    <dgm:cxn modelId="{D3B2AC1D-697B-4637-A5B5-91AC051D7D87}" type="presOf" srcId="{59571011-0A5E-4AA1-A043-66959170B42A}" destId="{A170C38A-279D-472E-A0DE-166704FE25BE}" srcOrd="0" destOrd="0" presId="urn:microsoft.com/office/officeart/2005/8/layout/target1"/>
    <dgm:cxn modelId="{F42DEE31-67B7-4993-8F08-541DE03DA4D7}" type="presOf" srcId="{BE966404-63D7-4F29-A1E2-816B82D564D7}" destId="{1E160347-0113-4F1C-94F0-63EB30F5AF86}" srcOrd="0" destOrd="0" presId="urn:microsoft.com/office/officeart/2005/8/layout/target1"/>
    <dgm:cxn modelId="{94C6E161-52CF-471C-BF0A-846A3E0B250C}" type="presOf" srcId="{D9512795-50A4-4796-83B5-B091C4795C2B}" destId="{334A5EE5-3467-4B87-8A3B-3B1BFB48651A}" srcOrd="0" destOrd="0" presId="urn:microsoft.com/office/officeart/2005/8/layout/target1"/>
    <dgm:cxn modelId="{B3136342-72C9-4493-AE3D-399A7347BF16}" srcId="{BE966404-63D7-4F29-A1E2-816B82D564D7}" destId="{F1ADC108-F17B-41FF-B1D5-C12E85E255C8}" srcOrd="0" destOrd="0" parTransId="{35A27A13-8112-46D8-8F5E-9BF9B2B18ADB}" sibTransId="{B3E24ED2-7093-4D4D-897C-FA92D8ABF4A1}"/>
    <dgm:cxn modelId="{0C81E965-92E9-4D9F-9B61-44711905D07C}" type="presOf" srcId="{B1C06C1C-9C01-447C-ACCF-483B804DF47D}" destId="{43405CF9-EAC0-4367-A0CB-E50B4ADA4569}" srcOrd="0" destOrd="0" presId="urn:microsoft.com/office/officeart/2005/8/layout/target1"/>
    <dgm:cxn modelId="{4DF59854-D717-4848-815F-BBB14683D515}" type="presOf" srcId="{FCD2AB19-D2EC-4BF1-872B-BEB2D644074E}" destId="{AC3295CA-028A-40D5-8D71-8F16E5A963DD}" srcOrd="0" destOrd="0" presId="urn:microsoft.com/office/officeart/2005/8/layout/target1"/>
    <dgm:cxn modelId="{9E3EDEC7-56FF-4C81-A9AE-9B3FA99480C9}" srcId="{BE966404-63D7-4F29-A1E2-816B82D564D7}" destId="{FCD2AB19-D2EC-4BF1-872B-BEB2D644074E}" srcOrd="3" destOrd="0" parTransId="{557500F6-FE9B-4D41-BB61-376DA8C26EAC}" sibTransId="{3797E932-46DA-4804-BA79-C2275B403E2D}"/>
    <dgm:cxn modelId="{BC0B3CE3-91C6-49E7-9999-58887184A144}" type="presOf" srcId="{F1ADC108-F17B-41FF-B1D5-C12E85E255C8}" destId="{EC10BCCB-4F87-48CA-9D23-4DC578FEFA3D}" srcOrd="0" destOrd="0" presId="urn:microsoft.com/office/officeart/2005/8/layout/target1"/>
    <dgm:cxn modelId="{A1E9C0FA-295B-4CA4-848B-217DFAA262D6}" srcId="{BE966404-63D7-4F29-A1E2-816B82D564D7}" destId="{D9512795-50A4-4796-83B5-B091C4795C2B}" srcOrd="1" destOrd="0" parTransId="{118FFB92-76C1-402B-B67A-E09CD9D7FB05}" sibTransId="{0470DAF8-A4BE-498B-A639-7EDBEF762D85}"/>
    <dgm:cxn modelId="{C4F89E69-5EE7-45DD-B881-C080A816AC24}" type="presParOf" srcId="{1E160347-0113-4F1C-94F0-63EB30F5AF86}" destId="{B13B3A7A-34C7-460B-99E5-EBFE7DD4E92D}" srcOrd="0" destOrd="0" presId="urn:microsoft.com/office/officeart/2005/8/layout/target1"/>
    <dgm:cxn modelId="{67642130-2659-4726-9D7E-E2AFFC363EF8}" type="presParOf" srcId="{1E160347-0113-4F1C-94F0-63EB30F5AF86}" destId="{EC10BCCB-4F87-48CA-9D23-4DC578FEFA3D}" srcOrd="1" destOrd="0" presId="urn:microsoft.com/office/officeart/2005/8/layout/target1"/>
    <dgm:cxn modelId="{55A54144-14FA-45C4-9023-1A20B8A357B2}" type="presParOf" srcId="{1E160347-0113-4F1C-94F0-63EB30F5AF86}" destId="{61A14D3E-E5FD-4638-9CE5-AD00FC1B0E2D}" srcOrd="2" destOrd="0" presId="urn:microsoft.com/office/officeart/2005/8/layout/target1"/>
    <dgm:cxn modelId="{9823E71F-2794-41AE-A6DD-1EBEDAA44DFE}" type="presParOf" srcId="{1E160347-0113-4F1C-94F0-63EB30F5AF86}" destId="{43DD62F8-F09E-4794-941D-401C356FF102}" srcOrd="3" destOrd="0" presId="urn:microsoft.com/office/officeart/2005/8/layout/target1"/>
    <dgm:cxn modelId="{C7A2CA61-2703-4561-A254-1F256FFA83AE}" type="presParOf" srcId="{1E160347-0113-4F1C-94F0-63EB30F5AF86}" destId="{28A44823-9D1F-4BD8-BC31-5E0F4D84B55F}" srcOrd="4" destOrd="0" presId="urn:microsoft.com/office/officeart/2005/8/layout/target1"/>
    <dgm:cxn modelId="{B2435DA0-920C-40C7-BF24-7650571532F4}" type="presParOf" srcId="{1E160347-0113-4F1C-94F0-63EB30F5AF86}" destId="{334A5EE5-3467-4B87-8A3B-3B1BFB48651A}" srcOrd="5" destOrd="0" presId="urn:microsoft.com/office/officeart/2005/8/layout/target1"/>
    <dgm:cxn modelId="{C512896E-60C4-418A-A4CA-87B518DAACA7}" type="presParOf" srcId="{1E160347-0113-4F1C-94F0-63EB30F5AF86}" destId="{97777947-643D-475E-AA1F-0E48BB1E7B82}" srcOrd="6" destOrd="0" presId="urn:microsoft.com/office/officeart/2005/8/layout/target1"/>
    <dgm:cxn modelId="{10BAB48F-0463-4E75-9EF5-716F93F78DDE}" type="presParOf" srcId="{1E160347-0113-4F1C-94F0-63EB30F5AF86}" destId="{81E908DE-C9CD-4CAB-9F40-4F62365EF9AC}" srcOrd="7" destOrd="0" presId="urn:microsoft.com/office/officeart/2005/8/layout/target1"/>
    <dgm:cxn modelId="{D17DBB95-7803-4A4D-AF43-9D56179A725C}" type="presParOf" srcId="{1E160347-0113-4F1C-94F0-63EB30F5AF86}" destId="{76F8DE71-78E2-4953-A63B-50030CC4DCF7}" srcOrd="8" destOrd="0" presId="urn:microsoft.com/office/officeart/2005/8/layout/target1"/>
    <dgm:cxn modelId="{D961DE8B-C499-4BC2-AC2B-D84DFD320925}" type="presParOf" srcId="{1E160347-0113-4F1C-94F0-63EB30F5AF86}" destId="{A170C38A-279D-472E-A0DE-166704FE25BE}" srcOrd="9" destOrd="0" presId="urn:microsoft.com/office/officeart/2005/8/layout/target1"/>
    <dgm:cxn modelId="{DD8E9C9C-5A49-4FC5-A8AC-6EA64A0C23D7}" type="presParOf" srcId="{1E160347-0113-4F1C-94F0-63EB30F5AF86}" destId="{02A199D1-C95C-4BE0-A1ED-DBC557E3BF16}" srcOrd="10" destOrd="0" presId="urn:microsoft.com/office/officeart/2005/8/layout/target1"/>
    <dgm:cxn modelId="{C8B9CA43-D692-4ED2-890D-4DE1605155F1}" type="presParOf" srcId="{1E160347-0113-4F1C-94F0-63EB30F5AF86}" destId="{989B9EC0-5DAC-43C1-9B7A-5F9C11EC42DF}" srcOrd="11" destOrd="0" presId="urn:microsoft.com/office/officeart/2005/8/layout/target1"/>
    <dgm:cxn modelId="{29DA5812-9436-40AF-906A-C8BA2A4043FF}" type="presParOf" srcId="{1E160347-0113-4F1C-94F0-63EB30F5AF86}" destId="{8159DF0D-E8A4-4393-B4ED-9C3D7050E967}" srcOrd="12" destOrd="0" presId="urn:microsoft.com/office/officeart/2005/8/layout/target1"/>
    <dgm:cxn modelId="{6E05A957-505A-47E9-9576-8430D14BBE4A}" type="presParOf" srcId="{1E160347-0113-4F1C-94F0-63EB30F5AF86}" destId="{AC3295CA-028A-40D5-8D71-8F16E5A963DD}" srcOrd="13" destOrd="0" presId="urn:microsoft.com/office/officeart/2005/8/layout/target1"/>
    <dgm:cxn modelId="{5F53B42A-1E2B-4788-9888-2726D7A51C8A}" type="presParOf" srcId="{1E160347-0113-4F1C-94F0-63EB30F5AF86}" destId="{F475AA3C-0D4C-4CA7-831D-6584749C6DDA}" srcOrd="14" destOrd="0" presId="urn:microsoft.com/office/officeart/2005/8/layout/target1"/>
    <dgm:cxn modelId="{37D7ECF5-79B9-4352-AB7A-F9A97B2A9DFC}" type="presParOf" srcId="{1E160347-0113-4F1C-94F0-63EB30F5AF86}" destId="{E1CBB69C-D7E9-4EDD-A52B-95351DD49776}" srcOrd="15" destOrd="0" presId="urn:microsoft.com/office/officeart/2005/8/layout/target1"/>
    <dgm:cxn modelId="{5F340911-664E-4791-96EE-DB50D426B028}" type="presParOf" srcId="{1E160347-0113-4F1C-94F0-63EB30F5AF86}" destId="{17079B53-2E89-4283-ABB8-31592F736F4E}" srcOrd="16" destOrd="0" presId="urn:microsoft.com/office/officeart/2005/8/layout/target1"/>
    <dgm:cxn modelId="{4292EC60-B010-4C04-A51C-31648B3468C9}" type="presParOf" srcId="{1E160347-0113-4F1C-94F0-63EB30F5AF86}" destId="{43405CF9-EAC0-4367-A0CB-E50B4ADA4569}" srcOrd="17" destOrd="0" presId="urn:microsoft.com/office/officeart/2005/8/layout/target1"/>
    <dgm:cxn modelId="{1F1C9EF4-83AD-4A92-83EC-9FCEAC58876E}" type="presParOf" srcId="{1E160347-0113-4F1C-94F0-63EB30F5AF86}" destId="{7DE54ADD-2AA2-48B1-97B6-44FC74619A97}" srcOrd="18" destOrd="0" presId="urn:microsoft.com/office/officeart/2005/8/layout/target1"/>
    <dgm:cxn modelId="{E5FD85F2-2021-48DD-B0D1-378FCAA0FF1E}" type="presParOf" srcId="{1E160347-0113-4F1C-94F0-63EB30F5AF86}" destId="{E9F089BD-98CB-46F6-BAD9-D9713BE7DB28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79B53-2E89-4283-ABB8-31592F736F4E}">
      <dsp:nvSpPr>
        <dsp:cNvPr id="0" name=""/>
        <dsp:cNvSpPr/>
      </dsp:nvSpPr>
      <dsp:spPr>
        <a:xfrm>
          <a:off x="1216478" y="1099346"/>
          <a:ext cx="3780420" cy="37804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9DF0D-E8A4-4393-B4ED-9C3D7050E967}">
      <dsp:nvSpPr>
        <dsp:cNvPr id="0" name=""/>
        <dsp:cNvSpPr/>
      </dsp:nvSpPr>
      <dsp:spPr>
        <a:xfrm>
          <a:off x="1636419" y="1519287"/>
          <a:ext cx="2940536" cy="29405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8DE71-78E2-4953-A63B-50030CC4DCF7}">
      <dsp:nvSpPr>
        <dsp:cNvPr id="0" name=""/>
        <dsp:cNvSpPr/>
      </dsp:nvSpPr>
      <dsp:spPr>
        <a:xfrm>
          <a:off x="2056361" y="1939229"/>
          <a:ext cx="2100653" cy="21006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44823-9D1F-4BD8-BC31-5E0F4D84B55F}">
      <dsp:nvSpPr>
        <dsp:cNvPr id="0" name=""/>
        <dsp:cNvSpPr/>
      </dsp:nvSpPr>
      <dsp:spPr>
        <a:xfrm>
          <a:off x="2476618" y="2359486"/>
          <a:ext cx="1260140" cy="12601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3B3A7A-34C7-460B-99E5-EBFE7DD4E92D}">
      <dsp:nvSpPr>
        <dsp:cNvPr id="0" name=""/>
        <dsp:cNvSpPr/>
      </dsp:nvSpPr>
      <dsp:spPr>
        <a:xfrm>
          <a:off x="2896559" y="2779427"/>
          <a:ext cx="420256" cy="4202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0BCCB-4F87-48CA-9D23-4DC578FEFA3D}">
      <dsp:nvSpPr>
        <dsp:cNvPr id="0" name=""/>
        <dsp:cNvSpPr/>
      </dsp:nvSpPr>
      <dsp:spPr>
        <a:xfrm>
          <a:off x="5626968" y="160793"/>
          <a:ext cx="1890210" cy="667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u="sng" kern="1200" dirty="0"/>
            <a:t>Датчики, промежуточные измерительные преобразователи</a:t>
          </a:r>
        </a:p>
      </dsp:txBody>
      <dsp:txXfrm>
        <a:off x="5626968" y="160793"/>
        <a:ext cx="1890210" cy="667370"/>
      </dsp:txXfrm>
    </dsp:sp>
    <dsp:sp modelId="{61A14D3E-E5FD-4638-9CE5-AD00FC1B0E2D}">
      <dsp:nvSpPr>
        <dsp:cNvPr id="0" name=""/>
        <dsp:cNvSpPr/>
      </dsp:nvSpPr>
      <dsp:spPr>
        <a:xfrm>
          <a:off x="5154415" y="494478"/>
          <a:ext cx="472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D62F8-F09E-4794-941D-401C356FF102}">
      <dsp:nvSpPr>
        <dsp:cNvPr id="0" name=""/>
        <dsp:cNvSpPr/>
      </dsp:nvSpPr>
      <dsp:spPr>
        <a:xfrm rot="5400000">
          <a:off x="2881437" y="719728"/>
          <a:ext cx="2495077" cy="204457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A5EE5-3467-4B87-8A3B-3B1BFB48651A}">
      <dsp:nvSpPr>
        <dsp:cNvPr id="0" name=""/>
        <dsp:cNvSpPr/>
      </dsp:nvSpPr>
      <dsp:spPr>
        <a:xfrm>
          <a:off x="5626968" y="866472"/>
          <a:ext cx="1890210" cy="667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u="sng" kern="1200" dirty="0"/>
            <a:t>аналого-цифровые и цифро-аналоговые преобразователи (АЦП, ЦАП)</a:t>
          </a:r>
        </a:p>
      </dsp:txBody>
      <dsp:txXfrm>
        <a:off x="5626968" y="866472"/>
        <a:ext cx="1890210" cy="667370"/>
      </dsp:txXfrm>
    </dsp:sp>
    <dsp:sp modelId="{97777947-643D-475E-AA1F-0E48BB1E7B82}">
      <dsp:nvSpPr>
        <dsp:cNvPr id="0" name=""/>
        <dsp:cNvSpPr/>
      </dsp:nvSpPr>
      <dsp:spPr>
        <a:xfrm>
          <a:off x="5154415" y="1200157"/>
          <a:ext cx="472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908DE-C9CD-4CAB-9F40-4F62365EF9AC}">
      <dsp:nvSpPr>
        <dsp:cNvPr id="0" name=""/>
        <dsp:cNvSpPr/>
      </dsp:nvSpPr>
      <dsp:spPr>
        <a:xfrm rot="5400000">
          <a:off x="3248075" y="1371788"/>
          <a:ext cx="2077466" cy="173269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70C38A-279D-472E-A0DE-166704FE25BE}">
      <dsp:nvSpPr>
        <dsp:cNvPr id="0" name=""/>
        <dsp:cNvSpPr/>
      </dsp:nvSpPr>
      <dsp:spPr>
        <a:xfrm>
          <a:off x="5626968" y="1572150"/>
          <a:ext cx="1890210" cy="667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u="sng" kern="1200" dirty="0"/>
            <a:t>коммутаторы сигналов, исполнительные устройства</a:t>
          </a:r>
        </a:p>
      </dsp:txBody>
      <dsp:txXfrm>
        <a:off x="5626968" y="1572150"/>
        <a:ext cx="1890210" cy="667370"/>
      </dsp:txXfrm>
    </dsp:sp>
    <dsp:sp modelId="{02A199D1-C95C-4BE0-A1ED-DBC557E3BF16}">
      <dsp:nvSpPr>
        <dsp:cNvPr id="0" name=""/>
        <dsp:cNvSpPr/>
      </dsp:nvSpPr>
      <dsp:spPr>
        <a:xfrm>
          <a:off x="5154415" y="1905835"/>
          <a:ext cx="472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B9EC0-5DAC-43C1-9B7A-5F9C11EC42DF}">
      <dsp:nvSpPr>
        <dsp:cNvPr id="0" name=""/>
        <dsp:cNvSpPr/>
      </dsp:nvSpPr>
      <dsp:spPr>
        <a:xfrm rot="5400000">
          <a:off x="3607593" y="1997195"/>
          <a:ext cx="1638182" cy="145546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3295CA-028A-40D5-8D71-8F16E5A963DD}">
      <dsp:nvSpPr>
        <dsp:cNvPr id="0" name=""/>
        <dsp:cNvSpPr/>
      </dsp:nvSpPr>
      <dsp:spPr>
        <a:xfrm>
          <a:off x="5626968" y="2262707"/>
          <a:ext cx="1890210" cy="667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u="sng" kern="1200" dirty="0"/>
            <a:t>интерфейсные средства </a:t>
          </a:r>
          <a:r>
            <a:rPr lang="ru-RU" sz="1200" u="sng" kern="1200" dirty="0" err="1"/>
            <a:t>приема</a:t>
          </a:r>
          <a:r>
            <a:rPr lang="ru-RU" sz="1200" u="sng" kern="1200" dirty="0"/>
            <a:t> и передачи данных</a:t>
          </a:r>
        </a:p>
      </dsp:txBody>
      <dsp:txXfrm>
        <a:off x="5626968" y="2262707"/>
        <a:ext cx="1890210" cy="667370"/>
      </dsp:txXfrm>
    </dsp:sp>
    <dsp:sp modelId="{F475AA3C-0D4C-4CA7-831D-6584749C6DDA}">
      <dsp:nvSpPr>
        <dsp:cNvPr id="0" name=""/>
        <dsp:cNvSpPr/>
      </dsp:nvSpPr>
      <dsp:spPr>
        <a:xfrm>
          <a:off x="5154415" y="2596392"/>
          <a:ext cx="472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CBB69C-D7E9-4EDD-A52B-95351DD49776}">
      <dsp:nvSpPr>
        <dsp:cNvPr id="0" name=""/>
        <dsp:cNvSpPr/>
      </dsp:nvSpPr>
      <dsp:spPr>
        <a:xfrm rot="5400000">
          <a:off x="3965473" y="2657509"/>
          <a:ext cx="1250058" cy="112782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405CF9-EAC0-4367-A0CB-E50B4ADA4569}">
      <dsp:nvSpPr>
        <dsp:cNvPr id="0" name=""/>
        <dsp:cNvSpPr/>
      </dsp:nvSpPr>
      <dsp:spPr>
        <a:xfrm>
          <a:off x="5688636" y="2933101"/>
          <a:ext cx="1766873" cy="667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15240" bIns="15240" numCol="1" spcCol="127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u="sng" kern="1200" dirty="0"/>
            <a:t>элементы сигнализации и индикации</a:t>
          </a:r>
          <a:r>
            <a:rPr lang="ru-RU" sz="1200" kern="1200" dirty="0"/>
            <a:t>. </a:t>
          </a:r>
        </a:p>
      </dsp:txBody>
      <dsp:txXfrm>
        <a:off x="5688636" y="2933101"/>
        <a:ext cx="1766873" cy="667370"/>
      </dsp:txXfrm>
    </dsp:sp>
    <dsp:sp modelId="{7DE54ADD-2AA2-48B1-97B6-44FC74619A97}">
      <dsp:nvSpPr>
        <dsp:cNvPr id="0" name=""/>
        <dsp:cNvSpPr/>
      </dsp:nvSpPr>
      <dsp:spPr>
        <a:xfrm>
          <a:off x="5154415" y="3266786"/>
          <a:ext cx="4725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089BD-98CB-46F6-BAD9-D9713BE7DB28}">
      <dsp:nvSpPr>
        <dsp:cNvPr id="0" name=""/>
        <dsp:cNvSpPr/>
      </dsp:nvSpPr>
      <dsp:spPr>
        <a:xfrm rot="5400000">
          <a:off x="4303821" y="3298290"/>
          <a:ext cx="882098" cy="819091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5" name="Подзаголовок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31" name="Дата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18" name="Нижний колонтитул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1" name="Текст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7" name="Дата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0F31F90-9976-4289-832E-3184FC5AE9D9}" type="datetimeFigureOut">
              <a:rPr lang="ru-RU" smtClean="0"/>
              <a:t>02.03.2023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7409CA4-2D4F-4DF2-8E69-A4D7056AE3C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6802" y="548680"/>
            <a:ext cx="7772400" cy="1512168"/>
          </a:xfrm>
        </p:spPr>
        <p:txBody>
          <a:bodyPr/>
          <a:lstStyle/>
          <a:p>
            <a:r>
              <a:rPr lang="ru-RU" dirty="0"/>
              <a:t>ВСТРОЕННЫЕ СИСТЕМЫ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35896" y="2852936"/>
            <a:ext cx="5114778" cy="1101248"/>
          </a:xfrm>
        </p:spPr>
        <p:txBody>
          <a:bodyPr>
            <a:normAutofit fontScale="77500" lnSpcReduction="20000"/>
          </a:bodyPr>
          <a:lstStyle/>
          <a:p>
            <a:r>
              <a:rPr lang="uz-Cyrl-UZ" sz="3500" b="1" dirty="0"/>
              <a:t>Лекция </a:t>
            </a:r>
            <a:endParaRPr lang="en-US" sz="3500" b="1" dirty="0"/>
          </a:p>
          <a:p>
            <a:r>
              <a:rPr lang="ru-RU" sz="3500" b="1" dirty="0"/>
              <a:t>Средства сопряжения с объектом управления</a:t>
            </a:r>
          </a:p>
          <a:p>
            <a:pPr>
              <a:spcBef>
                <a:spcPts val="550"/>
              </a:spcBef>
            </a:pPr>
            <a:endParaRPr lang="ru-RU" sz="3500" dirty="0"/>
          </a:p>
          <a:p>
            <a:endParaRPr lang="ru-RU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092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1. Датчики объекта управления</a:t>
            </a:r>
          </a:p>
          <a:p>
            <a:pPr marL="0" indent="0">
              <a:buNone/>
            </a:pPr>
            <a:r>
              <a:rPr lang="ru-RU" dirty="0"/>
              <a:t>2. Аналого-цифровые цифро-аналоговые преобразователи</a:t>
            </a:r>
          </a:p>
          <a:p>
            <a:pPr marL="0" indent="0">
              <a:buNone/>
            </a:pPr>
            <a:r>
              <a:rPr lang="ru-RU" dirty="0"/>
              <a:t>3. Интерфейсы передачи сигналов</a:t>
            </a:r>
          </a:p>
        </p:txBody>
      </p:sp>
    </p:spTree>
    <p:extLst>
      <p:ext uri="{BB962C8B-B14F-4D97-AF65-F5344CB8AC3E}">
        <p14:creationId xmlns:p14="http://schemas.microsoft.com/office/powerpoint/2010/main" val="344701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Средства сопряжения с объектом управления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475011"/>
              </p:ext>
            </p:extLst>
          </p:nvPr>
        </p:nvGraphicFramePr>
        <p:xfrm>
          <a:off x="251520" y="1628800"/>
          <a:ext cx="8733656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332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u="sng" dirty="0"/>
              <a:t>Средства сопряжения с объектом управления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u="sng" dirty="0"/>
              <a:t>Они могут быть </a:t>
            </a:r>
            <a:r>
              <a:rPr lang="ru-RU" u="sng" dirty="0" err="1"/>
              <a:t>аппаратно</a:t>
            </a:r>
            <a:r>
              <a:rPr lang="ru-RU" u="sng" dirty="0"/>
              <a:t> реализованы </a:t>
            </a:r>
          </a:p>
          <a:p>
            <a:pPr marL="0" indent="0" algn="just">
              <a:buNone/>
            </a:pPr>
            <a:r>
              <a:rPr lang="ru-RU" u="sng" dirty="0"/>
              <a:t>как в виде отдельных узлов </a:t>
            </a:r>
          </a:p>
          <a:p>
            <a:pPr marL="722313" indent="0" algn="just">
              <a:buNone/>
            </a:pPr>
            <a:r>
              <a:rPr lang="ru-RU" u="sng" dirty="0">
                <a:solidFill>
                  <a:srgbClr val="00B050"/>
                </a:solidFill>
              </a:rPr>
              <a:t>датчики, средства </a:t>
            </a:r>
            <a:r>
              <a:rPr lang="ru-RU" u="sng" dirty="0" err="1">
                <a:solidFill>
                  <a:srgbClr val="00B050"/>
                </a:solidFill>
              </a:rPr>
              <a:t>приема</a:t>
            </a:r>
            <a:r>
              <a:rPr lang="ru-RU" u="sng" dirty="0">
                <a:solidFill>
                  <a:srgbClr val="00B050"/>
                </a:solidFill>
              </a:rPr>
              <a:t> и передачи данных, элементы сигнализации и индикации</a:t>
            </a:r>
            <a:r>
              <a:rPr lang="ru-RU" u="sng" dirty="0"/>
              <a:t>, </a:t>
            </a:r>
          </a:p>
          <a:p>
            <a:pPr marL="0" indent="0" algn="just">
              <a:buNone/>
            </a:pPr>
            <a:r>
              <a:rPr lang="ru-RU" u="sng" dirty="0"/>
              <a:t>так в виде встроенных в процессорные чипы электронных узлов </a:t>
            </a:r>
          </a:p>
          <a:p>
            <a:pPr marL="811213" indent="0" algn="just">
              <a:buNone/>
            </a:pPr>
            <a:r>
              <a:rPr lang="ru-RU" u="sng" dirty="0">
                <a:solidFill>
                  <a:srgbClr val="00B050"/>
                </a:solidFill>
              </a:rPr>
              <a:t>АЦП, коммутаторы сигналов, измерительные преобразователи</a:t>
            </a:r>
            <a:r>
              <a:rPr lang="ru-RU" u="sng" dirty="0"/>
              <a:t> 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1551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Датчики объекта управления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u="sng" dirty="0"/>
              <a:t>Это первичные измерительные устройства, функцией которых является преобразование значения физической величины (температуры, давления, перемещения) в электрический сигнал. </a:t>
            </a:r>
            <a:r>
              <a:rPr lang="ru-RU" dirty="0"/>
              <a:t>При этом информация выражается в форме напряжения, тока или частоты изменения сигнала.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371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Датчик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Обычно датчик состоит из двух частей:</a:t>
            </a:r>
          </a:p>
          <a:p>
            <a:pPr marL="0" indent="0" algn="just">
              <a:buNone/>
            </a:pPr>
            <a:r>
              <a:rPr lang="ru-RU" dirty="0"/>
              <a:t>   - чувствительного элемента, воспринимающего физический параметр (мембрана микрофона, катушка индуктивности, термопара, светодиод);</a:t>
            </a:r>
          </a:p>
          <a:p>
            <a:pPr marL="0" indent="0" algn="just">
              <a:buNone/>
            </a:pPr>
            <a:r>
              <a:rPr lang="ru-RU" dirty="0"/>
              <a:t>    - преобразователя физического параметра в ток или напряжение.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0930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Важнейшей технической характеристикой любого аналогового датчика является функция преобразования (характеристика преобразования). Чаще всего функция преобразования выражается линейной или логарифмической зависимостью между измеряемым параметром и выходным значением тока или напряжения.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3330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dirty="0"/>
              <a:t>Сейчас известно более 20 типов датчиков, отличающихся как принципом действия , так и измеряемой физической величиной. Это такие типы датчиков, как </a:t>
            </a:r>
            <a:r>
              <a:rPr lang="ru-RU" dirty="0" err="1"/>
              <a:t>емкостные</a:t>
            </a:r>
            <a:r>
              <a:rPr lang="ru-RU" dirty="0"/>
              <a:t>, токовые, пьезоэлектрические, потенциометрические, индукционные, волоконно-оптические. По типу измеряемой физической величины это датчики давления, перемещения, ускорения, вибрации, температуры, оборотов, деформации, угловой скорости, влажности, расхода. Наряду с датчиками, измеряющими величины в некоторых установленных диапазонах, существуют позиционные датчики, фиксирующие ограниченные положения измеряемого параметра: «включено-выключено», «открыто-закрыто», «единица-нуль».</a:t>
            </a:r>
          </a:p>
          <a:p>
            <a:pPr marL="0" indent="0" algn="just">
              <a:buNone/>
            </a:pPr>
            <a:r>
              <a:rPr lang="ru-RU" dirty="0"/>
              <a:t>  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0875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72400" cy="6741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007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548680"/>
            <a:ext cx="7239000" cy="5907056"/>
          </a:xfrm>
        </p:spPr>
        <p:txBody>
          <a:bodyPr>
            <a:normAutofit fontScale="62500" lnSpcReduction="20000"/>
          </a:bodyPr>
          <a:lstStyle/>
          <a:p>
            <a:pPr marL="0" indent="0" algn="just" fontAlgn="base">
              <a:buNone/>
            </a:pPr>
            <a:r>
              <a:rPr lang="ru-RU" dirty="0"/>
              <a:t>Разные датчики предназначены для измерения разных физических явлений:</a:t>
            </a:r>
          </a:p>
          <a:p>
            <a:pPr algn="just" fontAlgn="base"/>
            <a:r>
              <a:rPr lang="ru-RU" b="1" dirty="0"/>
              <a:t>Термопары, РДТ и термисторы</a:t>
            </a:r>
            <a:r>
              <a:rPr lang="ru-RU" dirty="0"/>
              <a:t>: для измерения температуры</a:t>
            </a:r>
          </a:p>
          <a:p>
            <a:pPr algn="just" fontAlgn="base"/>
            <a:r>
              <a:rPr lang="ru-RU" b="1" dirty="0" err="1"/>
              <a:t>Тензодатчики</a:t>
            </a:r>
            <a:r>
              <a:rPr lang="ru-RU" b="1" dirty="0"/>
              <a:t>:</a:t>
            </a:r>
            <a:r>
              <a:rPr lang="ru-RU" dirty="0"/>
              <a:t> для измерения деформации объекта, например давления, натяжения, веса и пр.</a:t>
            </a:r>
          </a:p>
          <a:p>
            <a:pPr algn="just" fontAlgn="base"/>
            <a:r>
              <a:rPr lang="ru-RU" b="1" dirty="0"/>
              <a:t>Датчики нагрузки</a:t>
            </a:r>
            <a:r>
              <a:rPr lang="ru-RU" dirty="0"/>
              <a:t>: для измерения веса и нагрузки</a:t>
            </a:r>
          </a:p>
          <a:p>
            <a:pPr algn="just" fontAlgn="base"/>
            <a:r>
              <a:rPr lang="ru-RU" b="1" dirty="0"/>
              <a:t>Датчики LVDT</a:t>
            </a:r>
            <a:r>
              <a:rPr lang="ru-RU" dirty="0"/>
              <a:t>: для изучения смещения в расстоянии</a:t>
            </a:r>
          </a:p>
          <a:p>
            <a:pPr algn="just" fontAlgn="base"/>
            <a:r>
              <a:rPr lang="ru-RU" b="1" dirty="0"/>
              <a:t>Акселерометры</a:t>
            </a:r>
            <a:r>
              <a:rPr lang="ru-RU" dirty="0"/>
              <a:t>: для измерения вибрации и ударных нагрузок</a:t>
            </a:r>
          </a:p>
          <a:p>
            <a:pPr algn="just" fontAlgn="base"/>
            <a:r>
              <a:rPr lang="ru-RU" b="1" dirty="0"/>
              <a:t>Микрофоны</a:t>
            </a:r>
            <a:r>
              <a:rPr lang="ru-RU" dirty="0"/>
              <a:t>: для регистрации звуковых волн</a:t>
            </a:r>
          </a:p>
          <a:p>
            <a:pPr algn="just" fontAlgn="base"/>
            <a:r>
              <a:rPr lang="ru-RU" b="1" dirty="0"/>
              <a:t>Преобразователи тока</a:t>
            </a:r>
            <a:r>
              <a:rPr lang="ru-RU" dirty="0"/>
              <a:t>: для измерения переменного и постоянного тока</a:t>
            </a:r>
          </a:p>
          <a:p>
            <a:pPr algn="just" fontAlgn="base"/>
            <a:r>
              <a:rPr lang="ru-RU" b="1" dirty="0"/>
              <a:t>Трансформаторы напряжения</a:t>
            </a:r>
            <a:r>
              <a:rPr lang="ru-RU" dirty="0"/>
              <a:t>: для измерения потенциалов высокого напряжения</a:t>
            </a:r>
          </a:p>
          <a:p>
            <a:pPr algn="just" fontAlgn="base"/>
            <a:r>
              <a:rPr lang="ru-RU" b="1" dirty="0"/>
              <a:t>Оптические датчики</a:t>
            </a:r>
            <a:r>
              <a:rPr lang="ru-RU" dirty="0"/>
              <a:t>: для обнаружения света, передачи данных и замены традиционных датчиков</a:t>
            </a:r>
          </a:p>
          <a:p>
            <a:pPr algn="just" fontAlgn="base"/>
            <a:r>
              <a:rPr lang="ru-RU" b="1" dirty="0"/>
              <a:t>Датчики-видеокамеры</a:t>
            </a:r>
            <a:r>
              <a:rPr lang="ru-RU" dirty="0"/>
              <a:t>: для захвата одного непрерывного двумерного изображения</a:t>
            </a:r>
          </a:p>
          <a:p>
            <a:pPr algn="just" fontAlgn="base"/>
            <a:r>
              <a:rPr lang="ru-RU" b="1" dirty="0"/>
              <a:t>Цифровые датчики</a:t>
            </a:r>
            <a:r>
              <a:rPr lang="ru-RU" dirty="0"/>
              <a:t>: для </a:t>
            </a:r>
            <a:r>
              <a:rPr lang="ru-RU" dirty="0" err="1"/>
              <a:t>подсчета</a:t>
            </a:r>
            <a:r>
              <a:rPr lang="ru-RU" dirty="0"/>
              <a:t> дискретных значений, линейного и ротационного кодирования, измерения положения и пр.</a:t>
            </a:r>
          </a:p>
          <a:p>
            <a:pPr algn="just" fontAlgn="base"/>
            <a:r>
              <a:rPr lang="ru-RU" b="1" dirty="0"/>
              <a:t>Датчики местонахождения (GPS)</a:t>
            </a:r>
            <a:r>
              <a:rPr lang="ru-RU" dirty="0"/>
              <a:t>: для записи географических координат на основе данных GPS, ГЛОНАСС и других спутниковых систем позиционирования. Разные датчики GPS обеспечивают разную точность определения местоположения и многие другие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0746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Необходимость поддержания высокой </a:t>
            </a:r>
            <a:r>
              <a:rPr lang="ru-RU" dirty="0" err="1"/>
              <a:t>надежности</a:t>
            </a:r>
            <a:r>
              <a:rPr lang="ru-RU" dirty="0"/>
              <a:t> и безаварийности современных систем управления вынуждает разработчиков ВС увеличивать количество контролируемых параметров, увеличивать число и разнообразие датчиков физических величин. Например, на летательных авиационных и космических аппаратах число датчиков составляет от 250 до 2000</a:t>
            </a:r>
          </a:p>
        </p:txBody>
      </p:sp>
    </p:spTree>
    <p:extLst>
      <p:ext uri="{BB962C8B-B14F-4D97-AF65-F5344CB8AC3E}">
        <p14:creationId xmlns:p14="http://schemas.microsoft.com/office/powerpoint/2010/main" val="2614332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/>
              <a:t>Промежуточные измерительные преобразователи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Это устройства, сохраняющие вид представления сигнала (ток, напряжение) и его форму, но изменяющие его величину. Такие преобразователи необходимы, когда электрический сигнал, поступающий с датчика (например, биологического), или слишком слабый или слишком сильный по величине.</a:t>
            </a:r>
          </a:p>
        </p:txBody>
      </p:sp>
    </p:spTree>
    <p:extLst>
      <p:ext uri="{BB962C8B-B14F-4D97-AF65-F5344CB8AC3E}">
        <p14:creationId xmlns:p14="http://schemas.microsoft.com/office/powerpoint/2010/main" val="1996221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Аналого-цифровые цифро-аналоговые преобразователи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Эти устройства осуществляют дискретизацию, квантование и кодирование значений непрерывной величины,  представление этой величины в двоичной, двоично-десятичной либо десятичной системах счисления. Различают три основных типа аналого-цифровых преобразователей.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1729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Цифро-аналоговые преобразователи (ЦАП</a:t>
            </a:r>
            <a:r>
              <a:rPr lang="ru-RU" dirty="0"/>
              <a:t>).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u="sng" dirty="0"/>
              <a:t>Это устройство формирует на выходе аналоговый сигнал, соответствующий цифровому коду на его входе. </a:t>
            </a:r>
          </a:p>
          <a:p>
            <a:pPr marL="0" indent="0" algn="just">
              <a:buNone/>
            </a:pPr>
            <a:r>
              <a:rPr lang="ru-RU" u="sng" dirty="0"/>
              <a:t>ЦАП предназначен для:</a:t>
            </a:r>
          </a:p>
          <a:p>
            <a:pPr algn="just"/>
            <a:r>
              <a:rPr lang="ru-RU" u="sng" dirty="0"/>
              <a:t>      - согласования цифровых устройств с аналоговыми;</a:t>
            </a:r>
          </a:p>
          <a:p>
            <a:pPr algn="just"/>
            <a:r>
              <a:rPr lang="ru-RU" u="sng" dirty="0"/>
              <a:t>      - применения в цифровых приборах, синтезаторах речи и музыкальных звуков;</a:t>
            </a:r>
          </a:p>
          <a:p>
            <a:pPr algn="just"/>
            <a:r>
              <a:rPr lang="ru-RU" u="sng" dirty="0"/>
              <a:t>      - управления устройствами и оборудованием с аналоговым  входом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1160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Исполнительные устройства</a:t>
            </a:r>
            <a:r>
              <a:rPr lang="ru-RU" dirty="0"/>
              <a:t>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u="sng" dirty="0"/>
              <a:t>Исполнительные устройства предназначены для исполнения команд управления и организации непосредственного воздействия на объект</a:t>
            </a:r>
            <a:r>
              <a:rPr lang="ru-RU" dirty="0"/>
              <a:t>. Большей частью они связаны с выходами ЦАП или многопозиционными регуляторами. </a:t>
            </a:r>
          </a:p>
          <a:p>
            <a:pPr marL="0" indent="0" algn="just">
              <a:buNone/>
            </a:pPr>
            <a:r>
              <a:rPr lang="ru-RU" u="sng" dirty="0"/>
              <a:t>Примерами исполнительных устройств автоматики могут быть реле, шаговые  двигатели, всевозможные нагреватели, заслонки.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713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Коммутаторы аналоговых сигналов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u="sng" dirty="0"/>
              <a:t>Коммутаторы осуществляют физическое переключение (коммутацию) связей между различными устройствами</a:t>
            </a:r>
            <a:r>
              <a:rPr lang="ru-RU" dirty="0"/>
              <a:t>. </a:t>
            </a:r>
            <a:r>
              <a:rPr lang="ru-RU" u="sng" dirty="0"/>
              <a:t>Коммутаторы подключения нескольких входов на один выход называются мультиплексорами, коммутаторы подключения нескольких выходов к одному входу называются </a:t>
            </a:r>
            <a:r>
              <a:rPr lang="ru-RU" u="sng" dirty="0" err="1"/>
              <a:t>демультиплексорами</a:t>
            </a:r>
            <a:r>
              <a:rPr lang="ru-RU" u="sng" dirty="0"/>
              <a:t>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2709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Коммутаторы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dirty="0"/>
              <a:t>Коммутаторы необходимы в тех случаях, когда количество датчиков (например, в системах управления технологическими процессами или </a:t>
            </a:r>
            <a:r>
              <a:rPr lang="ru-RU" dirty="0" err="1"/>
              <a:t>распределенных</a:t>
            </a:r>
            <a:r>
              <a:rPr lang="ru-RU" dirty="0"/>
              <a:t> системах) намного превышает число АЦП и каналов  ввода в компьютер. Тогда в компьютер записывается программа опроса датчиков, которая в зависимости от технологической важности того или иного процесса и  скорости его изменения с помощью коммутатора осуществляет программный опрос. Скорость аналого-цифрового преобразования намного выше скорости изменения динамических процессов, поэтому в системах с большим количеством датчиков достаточно иметь один или несколько АЦП.</a:t>
            </a:r>
          </a:p>
          <a:p>
            <a:pPr marL="0" indent="0" algn="just">
              <a:buNone/>
            </a:pPr>
            <a:r>
              <a:rPr lang="ru-RU" dirty="0"/>
              <a:t>В сетевом варианте построения системы управления применяют коммутаторы цифровых сигналов – «свитчи».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308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Интерфейсы передачи сигналов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Для передачи электрических сигналов между различными устройствами (датчиками, усилителями, АЦП) используются аналоговые линии связи. В случае цифровой передачи данных (особенно в </a:t>
            </a:r>
            <a:r>
              <a:rPr lang="ru-RU" dirty="0" err="1"/>
              <a:t>распределенных</a:t>
            </a:r>
            <a:r>
              <a:rPr lang="ru-RU" dirty="0"/>
              <a:t> системах) используются специальные интерфейсы – комплексы программных и аппаратных средств и протоколов, предназначенных для обеспечения электрической, логической и конструктивной совместимости различных устройств и компонентов. В состав интерфейса входят магистрали (шины) и адаптеры </a:t>
            </a:r>
            <a:r>
              <a:rPr lang="ru-RU" dirty="0" err="1"/>
              <a:t>приемника</a:t>
            </a:r>
            <a:r>
              <a:rPr lang="ru-RU" dirty="0"/>
              <a:t> и передатчика для реализации протоколов обмена информационными и служебными сигналами. 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0780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u="sng" dirty="0"/>
              <a:t>По способу передачи данных по шине интерфейсы можно разделить на последовательные и параллельные</a:t>
            </a:r>
            <a:r>
              <a:rPr lang="ru-RU" dirty="0"/>
              <a:t>. </a:t>
            </a:r>
            <a:r>
              <a:rPr lang="ru-RU" u="sng" dirty="0"/>
              <a:t>Последовательные интерфейсы передают информационные биты один за другим по нескольким, а чаще по одной линии. Параллельные позволяют передавать целиком байты по многоканальным шинам с высокой скоростью.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7272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Примеры интерфейсов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ru-RU" dirty="0"/>
              <a:t>Последовательный интерфейс </a:t>
            </a:r>
            <a:r>
              <a:rPr lang="en-US" dirty="0"/>
              <a:t>RS</a:t>
            </a:r>
            <a:r>
              <a:rPr lang="ru-RU" dirty="0"/>
              <a:t>-232 относится к классу внешних интерфейсов. Он позволяет передавать данные между двумя устройствами со скоростями до 115 килобит/с  на расстояние до 15 метров. Международный стандарт на этот интерфейс описывает передачу данных по 25 линиям, но в простейшем случае достаточно одного кабеля с двумя линиями: одна используется для передачи данных, другая как общая «земля». Протокол передачи предусматривает, наряду с битами  информации, передачу стартовых, стоповых битов, битов контрольных сумм.</a:t>
            </a:r>
          </a:p>
          <a:p>
            <a:pPr algn="just"/>
            <a:r>
              <a:rPr lang="ru-RU" dirty="0"/>
              <a:t>Интерфейс  </a:t>
            </a:r>
            <a:r>
              <a:rPr lang="en-US" dirty="0"/>
              <a:t>RS</a:t>
            </a:r>
            <a:r>
              <a:rPr lang="ru-RU" dirty="0"/>
              <a:t>-232 используется для подключения к различным типам компьютеров манипуляторов «мышь», модемов, контрольно-кассовых аппаратов, АТС, цифровых осциллографов. В персональных компьютерах обмен данными по стандарту </a:t>
            </a:r>
            <a:r>
              <a:rPr lang="en-US" dirty="0"/>
              <a:t>RS</a:t>
            </a:r>
            <a:r>
              <a:rPr lang="ru-RU" dirty="0"/>
              <a:t>-232 обеспечивает СОМ-порт.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429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Последовательные интерфейсы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Последовательные интерфейсы  </a:t>
            </a:r>
            <a:r>
              <a:rPr lang="en-US" dirty="0"/>
              <a:t>RS</a:t>
            </a:r>
            <a:r>
              <a:rPr lang="ru-RU" dirty="0"/>
              <a:t>-422 и  </a:t>
            </a:r>
            <a:r>
              <a:rPr lang="en-US" dirty="0"/>
              <a:t>RS</a:t>
            </a:r>
            <a:r>
              <a:rPr lang="ru-RU" dirty="0"/>
              <a:t>-485 являются дальнейшим развитием </a:t>
            </a:r>
            <a:r>
              <a:rPr lang="en-US" dirty="0"/>
              <a:t>RS</a:t>
            </a:r>
            <a:r>
              <a:rPr lang="ru-RU" dirty="0"/>
              <a:t>-232 и позволяют соединять вместе до 32 устройств, передавать данные со скоростью 62.5 килобит/с на расстояние до 1200 м и со скоростью 10 мегабит/с на расстояние 10 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2706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Параллельные интерфейсы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Параллельные интерфейсы </a:t>
            </a:r>
            <a:r>
              <a:rPr lang="en-US" dirty="0"/>
              <a:t>VME</a:t>
            </a:r>
            <a:r>
              <a:rPr lang="ru-RU" dirty="0"/>
              <a:t>/</a:t>
            </a:r>
            <a:r>
              <a:rPr lang="en-US" dirty="0"/>
              <a:t>VXI</a:t>
            </a:r>
            <a:r>
              <a:rPr lang="ru-RU" dirty="0"/>
              <a:t>, </a:t>
            </a:r>
            <a:r>
              <a:rPr lang="en-US" dirty="0" err="1"/>
              <a:t>CompactPCI</a:t>
            </a:r>
            <a:r>
              <a:rPr lang="ru-RU" dirty="0"/>
              <a:t>, </a:t>
            </a:r>
            <a:r>
              <a:rPr lang="en-US" dirty="0"/>
              <a:t>PXI</a:t>
            </a:r>
            <a:r>
              <a:rPr lang="ru-RU" dirty="0"/>
              <a:t> относятся к классу системных интерфейсов и предназначены для построения магистрально-модульных систем управления. Они позволяют на основе общей шины объединять процессорный модуль, модуль оперативной памяти, модули внешних устройств.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334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Интерфейсы ВС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ru-RU" dirty="0"/>
              <a:t> </a:t>
            </a:r>
            <a:r>
              <a:rPr lang="ru-RU" u="sng" dirty="0"/>
              <a:t>последовательный внешний интерфейс </a:t>
            </a:r>
            <a:r>
              <a:rPr lang="en-US" u="sng" dirty="0" err="1"/>
              <a:t>CANbus</a:t>
            </a:r>
            <a:r>
              <a:rPr lang="ru-RU" u="sng" dirty="0"/>
              <a:t>, часто используемый для организации </a:t>
            </a:r>
            <a:r>
              <a:rPr lang="ru-RU" u="sng" dirty="0" err="1"/>
              <a:t>распределенных</a:t>
            </a:r>
            <a:r>
              <a:rPr lang="ru-RU" u="sng" dirty="0"/>
              <a:t> бортовых (автомобильных и авиационных) систем управления</a:t>
            </a:r>
            <a:r>
              <a:rPr lang="ru-RU" dirty="0"/>
              <a:t>;</a:t>
            </a:r>
          </a:p>
          <a:p>
            <a:pPr algn="just"/>
            <a:r>
              <a:rPr lang="ru-RU" dirty="0"/>
              <a:t>  </a:t>
            </a:r>
            <a:r>
              <a:rPr lang="ru-RU" u="sng" dirty="0"/>
              <a:t>последовательный внешний интерфейс </a:t>
            </a:r>
            <a:r>
              <a:rPr lang="en-US" u="sng" dirty="0" err="1"/>
              <a:t>IndustrialEthernet</a:t>
            </a:r>
            <a:r>
              <a:rPr lang="ru-RU" u="sng" dirty="0"/>
              <a:t>, являющийся оптимизированной под задачи реального времени версией сетевого интерфейса </a:t>
            </a:r>
            <a:r>
              <a:rPr lang="en-US" u="sng" dirty="0"/>
              <a:t>Ethernet</a:t>
            </a:r>
            <a:r>
              <a:rPr lang="ru-RU" u="sng" dirty="0"/>
              <a:t>;</a:t>
            </a:r>
          </a:p>
          <a:p>
            <a:pPr algn="just"/>
            <a:r>
              <a:rPr lang="ru-RU" u="sng" dirty="0"/>
              <a:t>  комбинированный интерфейс </a:t>
            </a:r>
            <a:r>
              <a:rPr lang="en-US" u="sng" dirty="0"/>
              <a:t>HART</a:t>
            </a:r>
            <a:r>
              <a:rPr lang="ru-RU" u="sng" dirty="0"/>
              <a:t>, позволяющий одновременно передавать цифровые данные и аналоговые сигналы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dirty="0"/>
              <a:t>Последовательный внешний интерфейс </a:t>
            </a:r>
            <a:r>
              <a:rPr lang="en-US" dirty="0"/>
              <a:t>USB</a:t>
            </a:r>
            <a:r>
              <a:rPr lang="ru-RU" dirty="0"/>
              <a:t>, параллельные системные интерфейсы   </a:t>
            </a:r>
            <a:r>
              <a:rPr lang="en-US" dirty="0"/>
              <a:t>PCI</a:t>
            </a:r>
            <a:r>
              <a:rPr lang="ru-RU" dirty="0"/>
              <a:t>, </a:t>
            </a:r>
            <a:r>
              <a:rPr lang="en-US" dirty="0"/>
              <a:t>ISA</a:t>
            </a:r>
            <a:r>
              <a:rPr lang="ru-RU" dirty="0"/>
              <a:t>, </a:t>
            </a:r>
            <a:r>
              <a:rPr lang="en-US" dirty="0"/>
              <a:t>AGP</a:t>
            </a:r>
            <a:r>
              <a:rPr lang="ru-RU" dirty="0"/>
              <a:t> редко используются в системах реального времени.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9561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Последовательный интерфейс </a:t>
            </a:r>
            <a:r>
              <a:rPr lang="en-US" dirty="0"/>
              <a:t>I²C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 err="1"/>
              <a:t>Philips</a:t>
            </a:r>
            <a:r>
              <a:rPr lang="ru-RU" dirty="0"/>
              <a:t> в 1980 году разработала простую двунаправленную двухпроводную шину для эффективного </a:t>
            </a:r>
            <a:r>
              <a:rPr lang="ru-RU" u="sng" dirty="0"/>
              <a:t>«</a:t>
            </a:r>
            <a:r>
              <a:rPr lang="ru-RU" u="sng" dirty="0" err="1"/>
              <a:t>межмикросхемного</a:t>
            </a:r>
            <a:r>
              <a:rPr lang="ru-RU" u="sng" dirty="0"/>
              <a:t>» (</a:t>
            </a:r>
            <a:r>
              <a:rPr lang="ru-RU" u="sng" dirty="0" err="1"/>
              <a:t>inter</a:t>
            </a:r>
            <a:r>
              <a:rPr lang="ru-RU" u="sng" dirty="0"/>
              <a:t>-IC) управления. Шина так и называется – </a:t>
            </a:r>
            <a:r>
              <a:rPr lang="ru-RU" u="sng" dirty="0" err="1"/>
              <a:t>Inter-Integrated</a:t>
            </a:r>
            <a:r>
              <a:rPr lang="ru-RU" u="sng" dirty="0"/>
              <a:t> </a:t>
            </a:r>
            <a:r>
              <a:rPr lang="ru-RU" u="sng" dirty="0" err="1"/>
              <a:t>Circuit</a:t>
            </a:r>
            <a:r>
              <a:rPr lang="ru-RU" u="sng" dirty="0"/>
              <a:t>, или IIC (I²C) шина.</a:t>
            </a:r>
          </a:p>
          <a:p>
            <a:pPr marL="0" indent="0" algn="just">
              <a:buNone/>
            </a:pPr>
            <a:r>
              <a:rPr lang="ru-RU" dirty="0"/>
              <a:t>Все I²Cсовместимые устройства имеют встроенный интерфейс, который позволяет им связываться друг с другом по шине I²C. Это конструкторское решение разрешает множество проблем сопряжения различных устройств, которые обычно возникают при разработке цифровых систем.</a:t>
            </a:r>
          </a:p>
        </p:txBody>
      </p:sp>
    </p:spTree>
    <p:extLst>
      <p:ext uri="{BB962C8B-B14F-4D97-AF65-F5344CB8AC3E}">
        <p14:creationId xmlns:p14="http://schemas.microsoft.com/office/powerpoint/2010/main" val="3537419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732696"/>
          </a:xfrm>
        </p:spPr>
        <p:txBody>
          <a:bodyPr/>
          <a:lstStyle/>
          <a:p>
            <a:r>
              <a:rPr lang="ru-RU" u="sng" dirty="0" err="1"/>
              <a:t>применениЕ</a:t>
            </a:r>
            <a:r>
              <a:rPr lang="ru-RU" u="sng" dirty="0"/>
              <a:t> I²C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7239000" cy="5330992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dirty="0"/>
              <a:t>• </a:t>
            </a:r>
            <a:r>
              <a:rPr lang="ru-RU" u="sng" dirty="0"/>
              <a:t>доступ к модулям памяти (RAM, EEPROM, </a:t>
            </a:r>
            <a:r>
              <a:rPr lang="ru-RU" u="sng" dirty="0" err="1"/>
              <a:t>Flash</a:t>
            </a:r>
            <a:r>
              <a:rPr lang="ru-RU" u="sng" dirty="0"/>
              <a:t> и др.);</a:t>
            </a:r>
          </a:p>
          <a:p>
            <a:pPr marL="0" indent="0" algn="just">
              <a:buNone/>
            </a:pPr>
            <a:r>
              <a:rPr lang="ru-RU" u="sng" dirty="0"/>
              <a:t>• доступ к низкоскоростным ЦАП/АЦП; </a:t>
            </a:r>
          </a:p>
          <a:p>
            <a:pPr marL="0" indent="0" algn="just">
              <a:buNone/>
            </a:pPr>
            <a:r>
              <a:rPr lang="ru-RU" dirty="0"/>
              <a:t>• работа с часами реального времени (RTC); </a:t>
            </a:r>
          </a:p>
          <a:p>
            <a:pPr marL="0" indent="0" algn="just">
              <a:buNone/>
            </a:pPr>
            <a:r>
              <a:rPr lang="ru-RU" dirty="0"/>
              <a:t>• регулировка контрастности, насыщенности и цветового баланса мониторов; </a:t>
            </a:r>
          </a:p>
          <a:p>
            <a:pPr marL="0" indent="0" algn="just">
              <a:buNone/>
            </a:pPr>
            <a:r>
              <a:rPr lang="ru-RU" dirty="0"/>
              <a:t>• </a:t>
            </a:r>
            <a:r>
              <a:rPr lang="ru-RU" u="sng" dirty="0"/>
              <a:t>управление интеллектуальными </a:t>
            </a:r>
            <a:r>
              <a:rPr lang="ru-RU" u="sng" dirty="0" err="1"/>
              <a:t>звукоизлучателем</a:t>
            </a:r>
            <a:r>
              <a:rPr lang="ru-RU" u="sng" dirty="0"/>
              <a:t> (динамиками); </a:t>
            </a:r>
          </a:p>
          <a:p>
            <a:pPr marL="0" indent="0" algn="just">
              <a:buNone/>
            </a:pPr>
            <a:r>
              <a:rPr lang="ru-RU" dirty="0"/>
              <a:t>• управление ЖКИ, в том числе в мобильных телефонах; </a:t>
            </a:r>
          </a:p>
          <a:p>
            <a:pPr marL="0" indent="0" algn="just">
              <a:buNone/>
            </a:pPr>
            <a:r>
              <a:rPr lang="ru-RU" dirty="0"/>
              <a:t>• чтение информации с датчиков мониторинга и диагностики оборудования, например, термостат центрального процессора или датчик скорости вращения вентилятора охлаждения процессора; </a:t>
            </a:r>
          </a:p>
          <a:p>
            <a:pPr marL="0" indent="0" algn="just">
              <a:buNone/>
            </a:pPr>
            <a:r>
              <a:rPr lang="ru-RU" dirty="0"/>
              <a:t>• информационный обмен между микроконтроллерами.</a:t>
            </a:r>
          </a:p>
        </p:txBody>
      </p:sp>
    </p:spTree>
    <p:extLst>
      <p:ext uri="{BB962C8B-B14F-4D97-AF65-F5344CB8AC3E}">
        <p14:creationId xmlns:p14="http://schemas.microsoft.com/office/powerpoint/2010/main" val="1894432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Концепция шины </a:t>
            </a:r>
            <a:r>
              <a:rPr lang="en-US" dirty="0"/>
              <a:t>I²C 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2636912"/>
            <a:ext cx="3960440" cy="169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Объект 6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u="sng" dirty="0"/>
              <a:t>I²C использует две двунаправленных линии с открытым стоком – последовательная линия данных (SDA, англ. </a:t>
            </a:r>
            <a:r>
              <a:rPr lang="ru-RU" u="sng" dirty="0" err="1"/>
              <a:t>Serial</a:t>
            </a:r>
            <a:r>
              <a:rPr lang="ru-RU" u="sng" dirty="0"/>
              <a:t> </a:t>
            </a:r>
            <a:r>
              <a:rPr lang="ru-RU" u="sng" dirty="0" err="1"/>
              <a:t>DAta</a:t>
            </a:r>
            <a:r>
              <a:rPr lang="ru-RU" u="sng" dirty="0"/>
              <a:t>) и последовательная линия тактирования (SCL, англ. </a:t>
            </a:r>
            <a:r>
              <a:rPr lang="ru-RU" u="sng" dirty="0" err="1"/>
              <a:t>Serial</a:t>
            </a:r>
            <a:r>
              <a:rPr lang="ru-RU" u="sng" dirty="0"/>
              <a:t> </a:t>
            </a:r>
            <a:r>
              <a:rPr lang="ru-RU" u="sng" dirty="0" err="1"/>
              <a:t>CLock</a:t>
            </a:r>
            <a:r>
              <a:rPr lang="ru-RU" u="sng" dirty="0"/>
              <a:t>), обе нагруженные резисторами. </a:t>
            </a:r>
          </a:p>
        </p:txBody>
      </p:sp>
    </p:spTree>
    <p:extLst>
      <p:ext uri="{BB962C8B-B14F-4D97-AF65-F5344CB8AC3E}">
        <p14:creationId xmlns:p14="http://schemas.microsoft.com/office/powerpoint/2010/main" val="3469946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en-US" dirty="0"/>
              <a:t>CAN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ru-RU" u="sng" dirty="0"/>
              <a:t>CAN (</a:t>
            </a:r>
            <a:r>
              <a:rPr lang="ru-RU" u="sng" dirty="0" err="1"/>
              <a:t>Controller</a:t>
            </a:r>
            <a:r>
              <a:rPr lang="ru-RU" u="sng" dirty="0"/>
              <a:t> </a:t>
            </a:r>
            <a:r>
              <a:rPr lang="ru-RU" u="sng" dirty="0" err="1"/>
              <a:t>Area</a:t>
            </a:r>
            <a:r>
              <a:rPr lang="ru-RU" u="sng" dirty="0"/>
              <a:t> </a:t>
            </a:r>
            <a:r>
              <a:rPr lang="ru-RU" u="sng" dirty="0" err="1"/>
              <a:t>Network</a:t>
            </a:r>
            <a:r>
              <a:rPr lang="ru-RU" u="sng" dirty="0"/>
              <a:t>) – последовательный протокол связи, который эффективно поддерживает </a:t>
            </a:r>
            <a:r>
              <a:rPr lang="ru-RU" u="sng" dirty="0" err="1"/>
              <a:t>распределенное</a:t>
            </a:r>
            <a:r>
              <a:rPr lang="ru-RU" u="sng" dirty="0"/>
              <a:t> управление в реальном масштабе времени с высоким уровнем безопасности. </a:t>
            </a:r>
            <a:r>
              <a:rPr lang="ru-RU" dirty="0" err="1"/>
              <a:t>Рзработан</a:t>
            </a:r>
            <a:r>
              <a:rPr lang="ru-RU" dirty="0"/>
              <a:t> фирмой BOSCH. Режим передачи – последовательный, широковещательный, пакетный. Стандарт не описывает физический уровень, но чаще всего используется сеть с топологией шина на базе дифференциальной пары, стандарта ISO 11898. 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Область применения – от высокоскоростных сетей до </a:t>
            </a:r>
            <a:r>
              <a:rPr lang="ru-RU" sz="1800" dirty="0" err="1"/>
              <a:t>дешевых</a:t>
            </a:r>
            <a:r>
              <a:rPr lang="ru-RU" sz="1800" dirty="0"/>
              <a:t> мультиплексных шин. </a:t>
            </a:r>
          </a:p>
          <a:p>
            <a:r>
              <a:rPr lang="ru-RU" sz="1800" dirty="0"/>
              <a:t>В автоматике, устройствах управления, датчиках используется CAN со скоростью до 1 </a:t>
            </a:r>
            <a:r>
              <a:rPr lang="ru-RU" sz="1800" dirty="0" err="1"/>
              <a:t>Mbit</a:t>
            </a:r>
            <a:r>
              <a:rPr lang="ru-RU" sz="1800" dirty="0"/>
              <a:t>/s. </a:t>
            </a:r>
          </a:p>
        </p:txBody>
      </p:sp>
    </p:spTree>
    <p:extLst>
      <p:ext uri="{BB962C8B-B14F-4D97-AF65-F5344CB8AC3E}">
        <p14:creationId xmlns:p14="http://schemas.microsoft.com/office/powerpoint/2010/main" val="3966700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Промышленный </a:t>
            </a:r>
            <a:r>
              <a:rPr lang="en-US" dirty="0"/>
              <a:t>Ethernet 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95752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u="sng" dirty="0" err="1"/>
              <a:t>Industrial</a:t>
            </a:r>
            <a:r>
              <a:rPr lang="ru-RU" u="sng" dirty="0"/>
              <a:t> </a:t>
            </a:r>
            <a:r>
              <a:rPr lang="ru-RU" u="sng" dirty="0" err="1"/>
              <a:t>Ethernet</a:t>
            </a:r>
            <a:r>
              <a:rPr lang="ru-RU" u="sng" dirty="0"/>
              <a:t> (промышленный </a:t>
            </a:r>
            <a:r>
              <a:rPr lang="ru-RU" u="sng" dirty="0" err="1"/>
              <a:t>Ethernet</a:t>
            </a:r>
            <a:r>
              <a:rPr lang="ru-RU" u="sng" dirty="0"/>
              <a:t>) – стандартизованный (IEEE 802.3 и 802.11) вариант </a:t>
            </a:r>
            <a:r>
              <a:rPr lang="ru-RU" u="sng" dirty="0" err="1"/>
              <a:t>Ethernet</a:t>
            </a:r>
            <a:r>
              <a:rPr lang="ru-RU" u="sng" dirty="0"/>
              <a:t> для применения в промышленности. </a:t>
            </a:r>
            <a:r>
              <a:rPr lang="ru-RU" dirty="0"/>
              <a:t>Сеть с процедурой доступа CSMA/CD. </a:t>
            </a:r>
            <a:r>
              <a:rPr lang="ru-RU" dirty="0" err="1"/>
              <a:t>Industrial</a:t>
            </a:r>
            <a:r>
              <a:rPr lang="ru-RU" dirty="0"/>
              <a:t> </a:t>
            </a:r>
            <a:r>
              <a:rPr lang="ru-RU" dirty="0" err="1"/>
              <a:t>Ethernet</a:t>
            </a:r>
            <a:r>
              <a:rPr lang="ru-RU" dirty="0"/>
              <a:t> обычно используется для обмена данными между программируемыми контроллерами и системами человеко-машинного интерфейса, реже для обмена данных между контроллерами и, незначительно, для подключения к контроллерам </a:t>
            </a:r>
            <a:r>
              <a:rPr lang="ru-RU" dirty="0" err="1"/>
              <a:t>удаленного</a:t>
            </a:r>
            <a:r>
              <a:rPr lang="ru-RU" dirty="0"/>
              <a:t> оборудования (датчиков и исполнительных устройств ). 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885512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/>
              <a:t>Широкому применению </a:t>
            </a:r>
            <a:r>
              <a:rPr lang="ru-RU" dirty="0" err="1"/>
              <a:t>Ethernet</a:t>
            </a:r>
            <a:r>
              <a:rPr lang="ru-RU" dirty="0"/>
              <a:t> в последних задачах препятствует суть метода CSMA/CD, делающая невозможным гарантию обмена небольшим количеством информации (единицы байт) с высокой частотой (миллисекундные циклы обмена). В последнее время является одной из самых распространённых промышленных сетей. Широко применяется при автоматизации зданий и в областях, не требующих высокой надёжности 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2770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ru-RU" sz="3200" b="1" dirty="0"/>
          </a:p>
          <a:p>
            <a:pPr marL="0" indent="0" algn="ctr">
              <a:buNone/>
            </a:pPr>
            <a:endParaRPr lang="ru-RU" sz="3200" b="1" dirty="0"/>
          </a:p>
          <a:p>
            <a:pPr marL="0" indent="0" algn="ctr">
              <a:buNone/>
            </a:pPr>
            <a:r>
              <a:rPr lang="ru-RU" sz="3200" b="1" dirty="0"/>
              <a:t>Спасибо за внимание!!!</a:t>
            </a:r>
          </a:p>
        </p:txBody>
      </p:sp>
    </p:spTree>
    <p:extLst>
      <p:ext uri="{BB962C8B-B14F-4D97-AF65-F5344CB8AC3E}">
        <p14:creationId xmlns:p14="http://schemas.microsoft.com/office/powerpoint/2010/main" val="3235351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зящная">
  <a:themeElements>
    <a:clrScheme name="Изящная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Изящная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зящная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465</TotalTime>
  <Words>1645</Words>
  <Application>Microsoft Office PowerPoint</Application>
  <PresentationFormat>Экран (4:3)</PresentationFormat>
  <Paragraphs>101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3" baseType="lpstr">
      <vt:lpstr>Trebuchet MS</vt:lpstr>
      <vt:lpstr>Wingdings</vt:lpstr>
      <vt:lpstr>Wingdings 2</vt:lpstr>
      <vt:lpstr>Изящная</vt:lpstr>
      <vt:lpstr>ВСТРОЕННЫЕ СИСТЕМЫ</vt:lpstr>
      <vt:lpstr>План</vt:lpstr>
      <vt:lpstr>Средства сопряжения с объектом управления</vt:lpstr>
      <vt:lpstr>Средства сопряжения с объектом управления</vt:lpstr>
      <vt:lpstr>Датчики объекта управления </vt:lpstr>
      <vt:lpstr>Датчик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Промежуточные измерительные преобразователи</vt:lpstr>
      <vt:lpstr>Аналого-цифровые цифро-аналоговые преобразователи</vt:lpstr>
      <vt:lpstr>Цифро-аналоговые преобразователи (ЦАП).</vt:lpstr>
      <vt:lpstr>Исполнительные устройства.</vt:lpstr>
      <vt:lpstr>Коммутаторы аналоговых сигналов</vt:lpstr>
      <vt:lpstr>Коммутаторы</vt:lpstr>
      <vt:lpstr>Интерфейсы передачи сигналов</vt:lpstr>
      <vt:lpstr>интерфейсы</vt:lpstr>
      <vt:lpstr>Примеры интерфейсов</vt:lpstr>
      <vt:lpstr>Последовательные интерфейсы </vt:lpstr>
      <vt:lpstr>Параллельные интерфейсы</vt:lpstr>
      <vt:lpstr>Интерфейсы ВС</vt:lpstr>
      <vt:lpstr>Последовательный интерфейс I²C </vt:lpstr>
      <vt:lpstr>применениЕ I²C</vt:lpstr>
      <vt:lpstr>Концепция шины I²C </vt:lpstr>
      <vt:lpstr>Интерфейс CAN</vt:lpstr>
      <vt:lpstr>Промышленный Ethernet 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ВСТРОЕННЫЕ СИСТЕМЫ</dc:title>
  <dc:creator>Nozima</dc:creator>
  <cp:lastModifiedBy>Fractal</cp:lastModifiedBy>
  <cp:revision>18</cp:revision>
  <dcterms:created xsi:type="dcterms:W3CDTF">2021-08-08T16:22:39Z</dcterms:created>
  <dcterms:modified xsi:type="dcterms:W3CDTF">2023-03-02T06:50:44Z</dcterms:modified>
</cp:coreProperties>
</file>